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723" r:id="rId1"/>
  </p:sldMasterIdLst>
  <p:notesMasterIdLst>
    <p:notesMasterId r:id="rId21"/>
  </p:notesMasterIdLst>
  <p:sldIdLst>
    <p:sldId id="263" r:id="rId2"/>
    <p:sldId id="335" r:id="rId3"/>
    <p:sldId id="326" r:id="rId4"/>
    <p:sldId id="328" r:id="rId5"/>
    <p:sldId id="329" r:id="rId6"/>
    <p:sldId id="330" r:id="rId7"/>
    <p:sldId id="327" r:id="rId8"/>
    <p:sldId id="331" r:id="rId9"/>
    <p:sldId id="332" r:id="rId10"/>
    <p:sldId id="333" r:id="rId11"/>
    <p:sldId id="334" r:id="rId12"/>
    <p:sldId id="337" r:id="rId13"/>
    <p:sldId id="339" r:id="rId14"/>
    <p:sldId id="338" r:id="rId15"/>
    <p:sldId id="340" r:id="rId16"/>
    <p:sldId id="341" r:id="rId17"/>
    <p:sldId id="336" r:id="rId18"/>
    <p:sldId id="342" r:id="rId19"/>
    <p:sldId id="314" r:id="rId20"/>
  </p:sldIdLst>
  <p:sldSz cx="12192000" cy="6858000"/>
  <p:notesSz cx="6858000" cy="9144000"/>
  <p:embeddedFontLst>
    <p:embeddedFont>
      <p:font typeface="Museo Sans Cyrl 500" panose="02000000000000000000" charset="-52"/>
      <p:regular r:id="rId22"/>
      <p:italic r:id="rId23"/>
    </p:embeddedFont>
    <p:embeddedFont>
      <p:font typeface="Museo Sans Cyrl 700" panose="02000000000000000000" charset="-52"/>
      <p:regular r:id="rId24"/>
      <p:bold r:id="rId25"/>
      <p:italic r:id="rId2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3840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3D3B"/>
    <a:srgbClr val="9E9F9E"/>
    <a:srgbClr val="CE3428"/>
    <a:srgbClr val="F4F4F7"/>
    <a:srgbClr val="DB342A"/>
    <a:srgbClr val="D4D4D4"/>
    <a:srgbClr val="B4B6B8"/>
    <a:srgbClr val="6600CC"/>
    <a:srgbClr val="7430E8"/>
    <a:srgbClr val="640A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89"/>
    <p:restoredTop sz="94704"/>
  </p:normalViewPr>
  <p:slideViewPr>
    <p:cSldViewPr snapToGrid="0" snapToObjects="1">
      <p:cViewPr varScale="1">
        <p:scale>
          <a:sx n="90" d="100"/>
          <a:sy n="90" d="100"/>
        </p:scale>
        <p:origin x="876" y="9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A1FA1C-5E15-3C4C-A932-7C934C80D78B}" type="datetimeFigureOut">
              <a:rPr lang="ru-RU" smtClean="0"/>
              <a:t>30.09.2025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3EC26-0790-BD4A-A04B-A7E2FC830DD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1709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23EC26-0790-BD4A-A04B-A7E2FC830DD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7893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2774" y="1196976"/>
            <a:ext cx="8426454" cy="3365500"/>
          </a:xfrm>
        </p:spPr>
        <p:txBody>
          <a:bodyPr anchor="b">
            <a:normAutofit/>
          </a:bodyPr>
          <a:lstStyle>
            <a:lvl1pPr>
              <a:defRPr sz="4800" b="0" i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882774" y="4760259"/>
            <a:ext cx="8426454" cy="162149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82774" y="1981201"/>
            <a:ext cx="8426453" cy="41957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2630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2774" y="1196976"/>
            <a:ext cx="8426454" cy="2232024"/>
          </a:xfrm>
        </p:spPr>
        <p:txBody>
          <a:bodyPr anchor="b">
            <a:normAutofit/>
          </a:bodyPr>
          <a:lstStyle>
            <a:lvl1pPr>
              <a:defRPr sz="3600" b="0" i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882774" y="3496235"/>
            <a:ext cx="8426454" cy="28800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760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882774" y="1981199"/>
            <a:ext cx="4213226" cy="4195763"/>
          </a:xfrm>
        </p:spPr>
        <p:txBody>
          <a:bodyPr>
            <a:normAutofit/>
          </a:bodyPr>
          <a:lstStyle>
            <a:lvl1pPr marL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defRPr sz="1600"/>
            </a:lvl1pPr>
            <a:lvl2pPr marL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defRPr sz="1600"/>
            </a:lvl2pPr>
            <a:lvl3pPr marL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defRPr sz="1600"/>
            </a:lvl3pPr>
            <a:lvl4pPr marL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defRPr sz="1600"/>
            </a:lvl4pPr>
            <a:lvl5pPr marL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Объект 2"/>
          <p:cNvSpPr>
            <a:spLocks noGrp="1"/>
          </p:cNvSpPr>
          <p:nvPr>
            <p:ph sz="half" idx="13"/>
          </p:nvPr>
        </p:nvSpPr>
        <p:spPr>
          <a:xfrm>
            <a:off x="6096000" y="1981199"/>
            <a:ext cx="4213226" cy="4195763"/>
          </a:xfrm>
        </p:spPr>
        <p:txBody>
          <a:bodyPr>
            <a:normAutofit/>
          </a:bodyPr>
          <a:lstStyle>
            <a:lvl1pPr marL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defRPr sz="1600"/>
            </a:lvl1pPr>
            <a:lvl2pPr marL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defRPr sz="1600"/>
            </a:lvl2pPr>
            <a:lvl3pPr marL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defRPr sz="1600"/>
            </a:lvl3pPr>
            <a:lvl4pPr marL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defRPr sz="1600"/>
            </a:lvl4pPr>
            <a:lvl5pPr marL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20369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882774" y="2093119"/>
            <a:ext cx="421322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882774" y="2989263"/>
            <a:ext cx="4213226" cy="320040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Текст 2"/>
          <p:cNvSpPr>
            <a:spLocks noGrp="1"/>
          </p:cNvSpPr>
          <p:nvPr>
            <p:ph type="body" idx="13"/>
          </p:nvPr>
        </p:nvSpPr>
        <p:spPr>
          <a:xfrm>
            <a:off x="6095999" y="2093119"/>
            <a:ext cx="421322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Объект 3"/>
          <p:cNvSpPr>
            <a:spLocks noGrp="1"/>
          </p:cNvSpPr>
          <p:nvPr>
            <p:ph sz="half" idx="14"/>
          </p:nvPr>
        </p:nvSpPr>
        <p:spPr>
          <a:xfrm>
            <a:off x="6095999" y="2989263"/>
            <a:ext cx="4213226" cy="320040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Заголовок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88309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ри объект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882774" y="1995947"/>
            <a:ext cx="3060000" cy="4181015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195444" y="1995947"/>
            <a:ext cx="3060000" cy="418101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Объект 3"/>
          <p:cNvSpPr>
            <a:spLocks noGrp="1"/>
          </p:cNvSpPr>
          <p:nvPr>
            <p:ph sz="half" idx="13"/>
          </p:nvPr>
        </p:nvSpPr>
        <p:spPr>
          <a:xfrm>
            <a:off x="8508113" y="1995946"/>
            <a:ext cx="3060000" cy="418101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  <a:lvl2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2pPr>
            <a:lvl3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3pPr>
            <a:lvl4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 smtClean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4pPr>
            <a:lvl5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lang="ru-RU" sz="1600" kern="1200" dirty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5666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7711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5999" y="1196975"/>
            <a:ext cx="5472113" cy="51847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1"/>
          <p:cNvSpPr>
            <a:spLocks noGrp="1"/>
          </p:cNvSpPr>
          <p:nvPr>
            <p:ph type="title"/>
          </p:nvPr>
        </p:nvSpPr>
        <p:spPr>
          <a:xfrm>
            <a:off x="1885576" y="1196975"/>
            <a:ext cx="42104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3"/>
          <p:cNvSpPr>
            <a:spLocks noGrp="1"/>
          </p:cNvSpPr>
          <p:nvPr>
            <p:ph type="body" sz="half" idx="2"/>
          </p:nvPr>
        </p:nvSpPr>
        <p:spPr>
          <a:xfrm>
            <a:off x="1882773" y="2868706"/>
            <a:ext cx="4213225" cy="35130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651712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5576" y="1196975"/>
            <a:ext cx="421042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6095999" y="1196975"/>
            <a:ext cx="5472113" cy="5184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882773" y="2868706"/>
            <a:ext cx="4213225" cy="35130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5522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ключительный слайд">
    <p:bg>
      <p:bgPr>
        <a:solidFill>
          <a:srgbClr val="DB3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B34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2773" y="2223246"/>
            <a:ext cx="9685339" cy="2339229"/>
          </a:xfrm>
        </p:spPr>
        <p:txBody>
          <a:bodyPr anchor="b">
            <a:normAutofit/>
          </a:bodyPr>
          <a:lstStyle>
            <a:lvl1pPr>
              <a:defRPr sz="3200" b="0" i="0">
                <a:solidFill>
                  <a:srgbClr val="F4F4F7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882773" y="4625787"/>
            <a:ext cx="9685339" cy="1755963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buNone/>
              <a:defRPr sz="1600">
                <a:solidFill>
                  <a:srgbClr val="D4D4D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Прямоугольник 3"/>
          <p:cNvSpPr/>
          <p:nvPr userDrawn="1"/>
        </p:nvSpPr>
        <p:spPr>
          <a:xfrm>
            <a:off x="0" y="0"/>
            <a:ext cx="12192000" cy="16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2772" y="344205"/>
            <a:ext cx="1260000" cy="931590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7590742" y="491177"/>
            <a:ext cx="3977371" cy="8527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>
              <a:lnSpc>
                <a:spcPct val="114000"/>
              </a:lnSpc>
            </a:pPr>
            <a:r>
              <a:rPr lang="ru-RU" sz="1100" dirty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rPr>
              <a:t>129226, г. Москва, 2-й Сельскохозяйственный проезд, 4</a:t>
            </a:r>
            <a:endParaRPr lang="en-US" sz="1100" dirty="0">
              <a:solidFill>
                <a:srgbClr val="3C3D3B"/>
              </a:solidFill>
              <a:latin typeface="Museo Sans Cyrl 500" charset="0"/>
              <a:ea typeface="Museo Sans Cyrl 500" charset="0"/>
              <a:cs typeface="Museo Sans Cyrl 500" charset="0"/>
            </a:endParaRPr>
          </a:p>
          <a:p>
            <a:pPr>
              <a:lnSpc>
                <a:spcPct val="114000"/>
              </a:lnSpc>
            </a:pPr>
            <a:r>
              <a:rPr lang="en-US" sz="1100" dirty="0" err="1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rPr>
              <a:t>info@mgpu.ru</a:t>
            </a:r>
            <a:endParaRPr lang="en-US" sz="1100" dirty="0">
              <a:solidFill>
                <a:srgbClr val="3C3D3B"/>
              </a:solidFill>
              <a:latin typeface="Museo Sans Cyrl 500" charset="0"/>
              <a:ea typeface="Museo Sans Cyrl 500" charset="0"/>
              <a:cs typeface="Museo Sans Cyrl 500" charset="0"/>
            </a:endParaRPr>
          </a:p>
          <a:p>
            <a:pPr>
              <a:lnSpc>
                <a:spcPct val="114000"/>
              </a:lnSpc>
            </a:pPr>
            <a:r>
              <a:rPr lang="en-US" sz="1100" dirty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rPr>
              <a:t>+7 (499) 181-24-62</a:t>
            </a:r>
            <a:br>
              <a:rPr lang="en-US" sz="1100" dirty="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rPr>
            </a:br>
            <a:r>
              <a:rPr lang="en-US" sz="1100" dirty="0" err="1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rPr>
              <a:t>www.mgpu.ru</a:t>
            </a:r>
            <a:endParaRPr lang="ru-RU" sz="1100" dirty="0">
              <a:solidFill>
                <a:srgbClr val="3C3D3B"/>
              </a:solidFill>
              <a:latin typeface="Museo Sans Cyrl 500" charset="0"/>
              <a:ea typeface="Museo Sans Cyrl 500" charset="0"/>
              <a:cs typeface="Museo Sans Cyrl 500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82775" y="1196975"/>
            <a:ext cx="8426452" cy="7203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882775" y="2035277"/>
            <a:ext cx="8426452" cy="4141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882774" y="6176962"/>
            <a:ext cx="8426453" cy="48381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>
                <a:solidFill>
                  <a:srgbClr val="9E9F9E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256168" y="6176962"/>
            <a:ext cx="576000" cy="4838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600" b="1" i="0">
                <a:solidFill>
                  <a:srgbClr val="9E9F9E"/>
                </a:solidFill>
                <a:latin typeface="Museo Sans Cyrl 700" charset="0"/>
                <a:ea typeface="Museo Sans Cyrl 700" charset="0"/>
                <a:cs typeface="Museo Sans Cyrl 700" charset="0"/>
              </a:defRPr>
            </a:lvl1pPr>
          </a:lstStyle>
          <a:p>
            <a:fld id="{B8D437A8-D5C6-7B44-BC16-48B1FA963B2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0" y="0"/>
            <a:ext cx="982663" cy="6858000"/>
          </a:xfrm>
          <a:prstGeom prst="rect">
            <a:avLst/>
          </a:prstGeom>
          <a:solidFill>
            <a:srgbClr val="DB34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D1DE0F0-22BD-CA49-B0E4-8B33FFD6CB6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398113" y="656975"/>
            <a:ext cx="1170000" cy="86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74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5" r:id="rId2"/>
    <p:sldLayoutId id="2147483726" r:id="rId3"/>
    <p:sldLayoutId id="2147483727" r:id="rId4"/>
    <p:sldLayoutId id="2147483728" r:id="rId5"/>
    <p:sldLayoutId id="2147483735" r:id="rId6"/>
    <p:sldLayoutId id="2147483729" r:id="rId7"/>
    <p:sldLayoutId id="2147483730" r:id="rId8"/>
    <p:sldLayoutId id="2147483731" r:id="rId9"/>
    <p:sldLayoutId id="2147483732" r:id="rId10"/>
    <p:sldLayoutId id="2147483737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3C3D3B"/>
          </a:solidFill>
          <a:latin typeface="Museo Sans Cyrl 500" charset="0"/>
          <a:ea typeface="Museo Sans Cyrl 500" charset="0"/>
          <a:cs typeface="Museo Sans Cyrl 500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2800" kern="1200">
          <a:solidFill>
            <a:srgbClr val="3C3D3B"/>
          </a:solidFill>
          <a:latin typeface="Museo Sans Cyrl 500" charset="0"/>
          <a:ea typeface="Museo Sans Cyrl 500" charset="0"/>
          <a:cs typeface="Museo Sans Cyrl 500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2400" kern="1200">
          <a:solidFill>
            <a:srgbClr val="3C3D3B"/>
          </a:solidFill>
          <a:latin typeface="Museo Sans Cyrl 500" charset="0"/>
          <a:ea typeface="Museo Sans Cyrl 500" charset="0"/>
          <a:cs typeface="Museo Sans Cyrl 500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rgbClr val="3C3D3B"/>
          </a:solidFill>
          <a:latin typeface="Museo Sans Cyrl 500" charset="0"/>
          <a:ea typeface="Museo Sans Cyrl 500" charset="0"/>
          <a:cs typeface="Museo Sans Cyrl 500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rgbClr val="3C3D3B"/>
          </a:solidFill>
          <a:latin typeface="Museo Sans Cyrl 500" charset="0"/>
          <a:ea typeface="Museo Sans Cyrl 500" charset="0"/>
          <a:cs typeface="Museo Sans Cyrl 500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rgbClr val="3C3D3B"/>
          </a:solidFill>
          <a:latin typeface="Museo Sans Cyrl 500" charset="0"/>
          <a:ea typeface="Museo Sans Cyrl 500" charset="0"/>
          <a:cs typeface="Museo Sans Cyrl 50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1186" userDrawn="1">
          <p15:clr>
            <a:srgbClr val="F26B43"/>
          </p15:clr>
        </p15:guide>
        <p15:guide id="3" pos="619" userDrawn="1">
          <p15:clr>
            <a:srgbClr val="F26B43"/>
          </p15:clr>
        </p15:guide>
        <p15:guide id="4" pos="3840" userDrawn="1">
          <p15:clr>
            <a:srgbClr val="F26B43"/>
          </p15:clr>
        </p15:guide>
        <p15:guide id="5" pos="7287" userDrawn="1">
          <p15:clr>
            <a:srgbClr val="F26B43"/>
          </p15:clr>
        </p15:guide>
        <p15:guide id="6" orient="horz" pos="754" userDrawn="1">
          <p15:clr>
            <a:srgbClr val="F26B43"/>
          </p15:clr>
        </p15:guide>
        <p15:guide id="7" orient="horz" pos="40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95.131.149.21:8080/phpmyadmin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OST%2095.131.149.21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hyperlink" Target="PORT%203306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OST%2095.131.149.21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PORT%203306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dYHIbzejDZJNpRUxgg7EnLUND0CDE2Wv#scrollTo=WJ3R52Epsfm9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7230140" y="2786576"/>
            <a:ext cx="4039561" cy="798550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Базы данных 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idx="1"/>
          </p:nvPr>
        </p:nvSpPr>
        <p:spPr>
          <a:xfrm>
            <a:off x="7001133" y="5167701"/>
            <a:ext cx="4497572" cy="435381"/>
          </a:xfrm>
        </p:spPr>
        <p:txBody>
          <a:bodyPr>
            <a:normAutofit fontScale="925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Студентка 2 курса группы ЦИБ-241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A662EB-A3BB-2DEA-3C9D-B245FBC1D699}"/>
              </a:ext>
            </a:extLst>
          </p:cNvPr>
          <p:cNvSpPr txBox="1"/>
          <p:nvPr/>
        </p:nvSpPr>
        <p:spPr>
          <a:xfrm>
            <a:off x="7846422" y="3585126"/>
            <a:ext cx="2806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Лабораторная работа №1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028C0E-43BD-A560-6E17-60111314A030}"/>
              </a:ext>
            </a:extLst>
          </p:cNvPr>
          <p:cNvSpPr txBox="1"/>
          <p:nvPr/>
        </p:nvSpPr>
        <p:spPr>
          <a:xfrm>
            <a:off x="7001133" y="4706036"/>
            <a:ext cx="4497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Еськова Маргарита Ивановна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5722C25-347D-8B62-7C9B-D0A04CA3DE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667" b="10417"/>
          <a:stretch>
            <a:fillRect/>
          </a:stretch>
        </p:blipFill>
        <p:spPr>
          <a:xfrm>
            <a:off x="1323310" y="1064147"/>
            <a:ext cx="4864839" cy="47297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731199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54D4CD-22DA-FB28-1ACE-A568C6374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775" y="835469"/>
            <a:ext cx="8426452" cy="720315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работы: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2FA62CD-4E34-5004-0303-46C9A5C18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2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4C0201-1CCA-AFFF-8D69-58A7AD921456}"/>
              </a:ext>
            </a:extLst>
          </p:cNvPr>
          <p:cNvSpPr txBox="1"/>
          <p:nvPr/>
        </p:nvSpPr>
        <p:spPr>
          <a:xfrm>
            <a:off x="1882773" y="2274838"/>
            <a:ext cx="895180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Научиться подключаться к удаленному серверу СУБД MySQL с использованием инструментов MySQL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Workbench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phpMyAdmin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Освоить базовые команды языка SQL для создания баз данных (CREATE DATABASE) и таблиц (CREATE TABLE). </a:t>
            </a:r>
          </a:p>
          <a:p>
            <a:pPr marL="342900" indent="-342900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Получить практические навыки наполнения таблиц данными (INSERT) и выполнения простых запросов на выборку (SELECT). </a:t>
            </a:r>
          </a:p>
          <a:p>
            <a:pPr marL="342900" indent="-342900"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(Дополнительно) Научиться устанавливать и настраивать СУБД MySQL на локальной машине под управлением Windows или Ubuntu.</a:t>
            </a:r>
          </a:p>
        </p:txBody>
      </p:sp>
    </p:spTree>
    <p:extLst>
      <p:ext uri="{BB962C8B-B14F-4D97-AF65-F5344CB8AC3E}">
        <p14:creationId xmlns:p14="http://schemas.microsoft.com/office/powerpoint/2010/main" val="2747778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095153" y="435937"/>
            <a:ext cx="9214073" cy="1284394"/>
          </a:xfrm>
        </p:spPr>
        <p:txBody>
          <a:bodyPr>
            <a:noAutofit/>
          </a:bodyPr>
          <a:lstStyle/>
          <a:p>
            <a: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Краткое описание предметной области</a:t>
            </a:r>
          </a:p>
        </p:txBody>
      </p:sp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1613490" y="2945219"/>
            <a:ext cx="9029701" cy="2445489"/>
          </a:xfrm>
        </p:spPr>
        <p:txBody>
          <a:bodyPr>
            <a:normAutofit lnSpcReduction="10000"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 (№9) описывает предметную область платформы онлайн-курсов. В рамках работы создается база данных для хранения информации о курсах (уникальное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каждого курса, их названиях, предметах, которые с ними связаны и о ценах) и о студентах (уникальное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каждого студента, их имена и их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Это позволяет платформам эффективнее обучать студентов и выставлять более адекватную и подъёмную для студентов цену на курс.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6BDE9E-3549-FA4B-E29B-F3B80686B2A1}"/>
              </a:ext>
            </a:extLst>
          </p:cNvPr>
          <p:cNvSpPr txBox="1"/>
          <p:nvPr/>
        </p:nvSpPr>
        <p:spPr>
          <a:xfrm>
            <a:off x="1613490" y="2092709"/>
            <a:ext cx="6097772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 онлайн-курсов</a:t>
            </a:r>
          </a:p>
        </p:txBody>
      </p:sp>
    </p:spTree>
    <p:extLst>
      <p:ext uri="{BB962C8B-B14F-4D97-AF65-F5344CB8AC3E}">
        <p14:creationId xmlns:p14="http://schemas.microsoft.com/office/powerpoint/2010/main" val="1661128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FB490555-84EE-AAD2-85FB-0DA5A71E78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37005" t="8436" r="36554" b="36663"/>
          <a:stretch>
            <a:fillRect/>
          </a:stretch>
        </p:blipFill>
        <p:spPr>
          <a:xfrm>
            <a:off x="1882775" y="2093119"/>
            <a:ext cx="3583173" cy="4184940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ADD654-35EF-0D44-94F7-1BE054A8A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4</a:t>
            </a:fld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2126D78F-4D30-8E49-88FE-82C7E5A2888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096002" y="2016641"/>
            <a:ext cx="4213225" cy="823912"/>
          </a:xfrm>
        </p:spPr>
        <p:txBody>
          <a:bodyPr/>
          <a:lstStyle/>
          <a:p>
            <a:r>
              <a:rPr lang="ru-RU" dirty="0"/>
              <a:t>Ссылка на </a:t>
            </a:r>
            <a:r>
              <a:rPr lang="en-US" dirty="0"/>
              <a:t>phpMyAdmin</a:t>
            </a:r>
            <a:endParaRPr lang="ru-RU" dirty="0"/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F9B9D4E0-0DE3-454C-8124-023D9ACF116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95999" y="2937031"/>
            <a:ext cx="4213226" cy="551379"/>
          </a:xfrm>
        </p:spPr>
        <p:txBody>
          <a:bodyPr/>
          <a:lstStyle/>
          <a:p>
            <a:r>
              <a:rPr lang="en-US" dirty="0">
                <a:hlinkClick r:id="rId3"/>
              </a:rPr>
              <a:t> http://95.131.149.21:8080/phpmyadmin/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806D87-8035-4042-857A-8DA72D927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744" y="468901"/>
            <a:ext cx="9086483" cy="1248953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Шаг 1. Подключение к серверу СУБД через </a:t>
            </a:r>
            <a:r>
              <a:rPr lang="ru-RU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  <a:r>
              <a:rPr lang="ru-RU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MyAdmin</a:t>
            </a:r>
            <a:endParaRPr lang="ru-RU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3092516-EE75-6066-8A8A-1C92F89C05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838" r="53256" b="57464"/>
          <a:stretch>
            <a:fillRect/>
          </a:stretch>
        </p:blipFill>
        <p:spPr>
          <a:xfrm>
            <a:off x="5465948" y="3587986"/>
            <a:ext cx="5699051" cy="244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91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4FA42-D37F-8DF6-B6BA-B5E39A0A3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9BBE803-21D1-61F6-2A2F-EAA7DBB2F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D437A8-D5C6-7B44-BC16-48B1FA963B23}" type="slidenum">
              <a:rPr kumimoji="0" lang="ru-RU" sz="1600" b="1" i="0" u="none" strike="noStrike" kern="1200" cap="none" spc="0" normalizeH="0" baseline="0" noProof="0" smtClean="0">
                <a:ln>
                  <a:noFill/>
                </a:ln>
                <a:solidFill>
                  <a:srgbClr val="9E9F9E"/>
                </a:solidFill>
                <a:effectLst/>
                <a:uLnTx/>
                <a:uFillTx/>
                <a:latin typeface="Museo Sans Cyrl 700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srgbClr val="9E9F9E"/>
              </a:solidFill>
              <a:effectLst/>
              <a:uLnTx/>
              <a:uFillTx/>
              <a:latin typeface="Museo Sans Cyrl 700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B73B87-90D6-C507-60A0-27128A3D2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479" y="468901"/>
            <a:ext cx="9107748" cy="1248953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Шаг 1. Подключение к серверу СУБД через 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  <a:r>
              <a:rPr lang="ru-RU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Workbench</a:t>
            </a:r>
            <a:endParaRPr lang="ru-RU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Объект 14">
            <a:extLst>
              <a:ext uri="{FF2B5EF4-FFF2-40B4-BE49-F238E27FC236}">
                <a16:creationId xmlns:a16="http://schemas.microsoft.com/office/drawing/2014/main" id="{E28F7A26-A2B9-4239-0EA6-94D35FC91DA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4439" t="16512" r="68397" b="3181"/>
          <a:stretch>
            <a:fillRect/>
          </a:stretch>
        </p:blipFill>
        <p:spPr>
          <a:xfrm>
            <a:off x="1103846" y="2004450"/>
            <a:ext cx="2458043" cy="4087697"/>
          </a:xfrm>
          <a:prstGeom prst="rect">
            <a:avLst/>
          </a:prstGeom>
        </p:spPr>
      </p:pic>
      <p:pic>
        <p:nvPicPr>
          <p:cNvPr id="17" name="Объект 16">
            <a:extLst>
              <a:ext uri="{FF2B5EF4-FFF2-40B4-BE49-F238E27FC236}">
                <a16:creationId xmlns:a16="http://schemas.microsoft.com/office/drawing/2014/main" id="{C6880BA3-7682-5AD2-0BA6-FC9006501FFB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2"/>
          <a:srcRect l="32975" t="32664" r="41789" b="12602"/>
          <a:stretch>
            <a:fillRect/>
          </a:stretch>
        </p:blipFill>
        <p:spPr>
          <a:xfrm>
            <a:off x="3670155" y="2813830"/>
            <a:ext cx="2458043" cy="29988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0F4C045-EA76-4FCC-8FF2-5918BB0B95EE}"/>
              </a:ext>
            </a:extLst>
          </p:cNvPr>
          <p:cNvSpPr txBox="1"/>
          <p:nvPr/>
        </p:nvSpPr>
        <p:spPr>
          <a:xfrm>
            <a:off x="7708603" y="1395003"/>
            <a:ext cx="307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HOST 95.131.149.21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E79E35-8B75-8B26-EB5F-DC82C4FED381}"/>
              </a:ext>
            </a:extLst>
          </p:cNvPr>
          <p:cNvSpPr txBox="1"/>
          <p:nvPr/>
        </p:nvSpPr>
        <p:spPr>
          <a:xfrm>
            <a:off x="7708603" y="1676486"/>
            <a:ext cx="1360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 action="ppaction://hlinkfile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file"/>
              </a:rPr>
              <a:t>PORT 3306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D7A203E2-44CE-EE61-4A78-4E8F725A24A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042" t="22268" r="26697" b="22843"/>
          <a:stretch>
            <a:fillRect/>
          </a:stretch>
        </p:blipFill>
        <p:spPr>
          <a:xfrm>
            <a:off x="6128198" y="2232836"/>
            <a:ext cx="5920284" cy="378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405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EA083-E62C-07AB-9AF8-F4D227379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950771A-C403-D98C-CFF3-5FB11402B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D437A8-D5C6-7B44-BC16-48B1FA963B23}" type="slidenum">
              <a:rPr kumimoji="0" lang="ru-RU" sz="1600" b="1" i="0" u="none" strike="noStrike" kern="1200" cap="none" spc="0" normalizeH="0" baseline="0" noProof="0" smtClean="0">
                <a:ln>
                  <a:noFill/>
                </a:ln>
                <a:solidFill>
                  <a:srgbClr val="9E9F9E"/>
                </a:solidFill>
                <a:effectLst/>
                <a:uLnTx/>
                <a:uFillTx/>
                <a:latin typeface="Museo Sans Cyrl 700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1600" b="1" i="0" u="none" strike="noStrike" kern="1200" cap="none" spc="0" normalizeH="0" baseline="0" noProof="0" dirty="0">
              <a:ln>
                <a:noFill/>
              </a:ln>
              <a:solidFill>
                <a:srgbClr val="9E9F9E"/>
              </a:solidFill>
              <a:effectLst/>
              <a:uLnTx/>
              <a:uFillTx/>
              <a:latin typeface="Museo Sans Cyrl 700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E6069F-4BCB-CE1B-8A80-F21811954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112" y="468901"/>
            <a:ext cx="9097115" cy="1248953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Шаг 1. Подключение к серверу СУБД через 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  <a:r>
              <a:rPr lang="ru-RU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Workbench</a:t>
            </a:r>
            <a:endParaRPr lang="ru-RU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Объект 14">
            <a:extLst>
              <a:ext uri="{FF2B5EF4-FFF2-40B4-BE49-F238E27FC236}">
                <a16:creationId xmlns:a16="http://schemas.microsoft.com/office/drawing/2014/main" id="{1F43DC00-CA29-ACBF-3F64-C35553663F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4439" t="16512" r="68397" b="3181"/>
          <a:stretch>
            <a:fillRect/>
          </a:stretch>
        </p:blipFill>
        <p:spPr>
          <a:xfrm>
            <a:off x="1103846" y="2004450"/>
            <a:ext cx="2458043" cy="4087697"/>
          </a:xfrm>
          <a:prstGeom prst="rect">
            <a:avLst/>
          </a:prstGeom>
        </p:spPr>
      </p:pic>
      <p:pic>
        <p:nvPicPr>
          <p:cNvPr id="17" name="Объект 16">
            <a:extLst>
              <a:ext uri="{FF2B5EF4-FFF2-40B4-BE49-F238E27FC236}">
                <a16:creationId xmlns:a16="http://schemas.microsoft.com/office/drawing/2014/main" id="{BFB4E4C9-4701-55AD-B3F5-09AB176AD76A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2"/>
          <a:srcRect l="32975" t="32664" r="41789" b="12602"/>
          <a:stretch>
            <a:fillRect/>
          </a:stretch>
        </p:blipFill>
        <p:spPr>
          <a:xfrm>
            <a:off x="3670155" y="2813830"/>
            <a:ext cx="2458043" cy="29988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29E7E0C-8659-01E6-DA2B-513CF6647D49}"/>
              </a:ext>
            </a:extLst>
          </p:cNvPr>
          <p:cNvSpPr txBox="1"/>
          <p:nvPr/>
        </p:nvSpPr>
        <p:spPr>
          <a:xfrm>
            <a:off x="7708603" y="1395003"/>
            <a:ext cx="3072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3" action="ppaction://hlinkfile"/>
              </a:rPr>
              <a:t>HOST 95.131.149.21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3B1835-9743-52A3-8488-D0489E87231C}"/>
              </a:ext>
            </a:extLst>
          </p:cNvPr>
          <p:cNvSpPr txBox="1"/>
          <p:nvPr/>
        </p:nvSpPr>
        <p:spPr>
          <a:xfrm>
            <a:off x="7708603" y="1676486"/>
            <a:ext cx="1360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 action="ppaction://hlinkfile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4" action="ppaction://hlinkfile"/>
              </a:rPr>
              <a:t>PORT 3306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829D1255-F02E-96E0-9115-231356486D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587" t="29831" r="38256" b="38139"/>
          <a:stretch>
            <a:fillRect/>
          </a:stretch>
        </p:blipFill>
        <p:spPr>
          <a:xfrm>
            <a:off x="6236464" y="2855230"/>
            <a:ext cx="2945219" cy="219657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F79B527-3E85-0F2C-53D7-7FC861465A9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227" t="45891" r="63372" b="34035"/>
          <a:stretch>
            <a:fillRect/>
          </a:stretch>
        </p:blipFill>
        <p:spPr>
          <a:xfrm>
            <a:off x="9473610" y="3265197"/>
            <a:ext cx="2243470" cy="137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97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1DA0A0-4016-DA46-A53F-45DC6750E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683" y="712380"/>
            <a:ext cx="9165266" cy="654309"/>
          </a:xfrm>
        </p:spPr>
        <p:txBody>
          <a:bodyPr>
            <a:normAutofit fontScale="90000"/>
          </a:bodyPr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тонкого клиента и веб-клиента 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DAEBB9-152C-3548-9A6B-D79E00547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7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8F9926A-1274-1303-BD4B-BD9A55537F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82" t="14418" r="56395" b="60156"/>
          <a:stretch>
            <a:fillRect/>
          </a:stretch>
        </p:blipFill>
        <p:spPr>
          <a:xfrm>
            <a:off x="4325273" y="1584251"/>
            <a:ext cx="3640527" cy="226153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C6ED314-F62C-8F5A-2D71-AB7FE84852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52" r="42442" b="64341"/>
          <a:stretch>
            <a:fillRect/>
          </a:stretch>
        </p:blipFill>
        <p:spPr>
          <a:xfrm>
            <a:off x="1378687" y="3845790"/>
            <a:ext cx="9434625" cy="257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553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8233EC-8973-2B2E-F6B9-C58B45A67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772" y="481765"/>
            <a:ext cx="8426454" cy="877186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Шаг 2. Создание базы данных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05792B-1B44-071A-E756-78BA3E93D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82774" y="3126146"/>
            <a:ext cx="8426454" cy="3050816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базы данных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CE34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s12345_db</a:t>
            </a:r>
          </a:p>
          <a:p>
            <a:r>
              <a:rPr lang="en-US" dirty="0">
                <a:solidFill>
                  <a:srgbClr val="CE34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 SET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utf8mb4</a:t>
            </a:r>
          </a:p>
          <a:p>
            <a:r>
              <a:rPr lang="en-US" dirty="0">
                <a:solidFill>
                  <a:srgbClr val="CE342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utf8mb4_unicode_ci;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CHARACTERSET utf8mb4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COLLATE utf8mb4_unicode_ci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нужны для корректной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поддержки кириллицы.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Переключение на созданную базу данных для дальнейшей работы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ваша_БД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3371B41-1C65-EA7C-F1EA-CBCE668D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8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0BB4B5-C52F-DAE1-2821-504AAB67FC90}"/>
              </a:ext>
            </a:extLst>
          </p:cNvPr>
          <p:cNvSpPr txBox="1"/>
          <p:nvPr/>
        </p:nvSpPr>
        <p:spPr>
          <a:xfrm>
            <a:off x="1804876" y="1774257"/>
            <a:ext cx="32774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 уже создана!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528A91-199E-1801-8EF0-246321FFEF87}"/>
              </a:ext>
            </a:extLst>
          </p:cNvPr>
          <p:cNvSpPr txBox="1"/>
          <p:nvPr/>
        </p:nvSpPr>
        <p:spPr>
          <a:xfrm>
            <a:off x="1804876" y="2310730"/>
            <a:ext cx="79877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Роль– Студент: изменять, создавать, удалять объекты внутри БД</a:t>
            </a:r>
          </a:p>
        </p:txBody>
      </p:sp>
    </p:spTree>
    <p:extLst>
      <p:ext uri="{BB962C8B-B14F-4D97-AF65-F5344CB8AC3E}">
        <p14:creationId xmlns:p14="http://schemas.microsoft.com/office/powerpoint/2010/main" val="3506240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F7EA9A-ECB1-85F3-858E-F0AB7C547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743" y="552894"/>
            <a:ext cx="8963247" cy="1215541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Шаг 3. Выполнение индивидуального задания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D7BCB1-B7DF-1403-AAA0-DEE2F22B0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9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5063408-7BC5-56A6-E375-226322D8DC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61" t="50000" r="10610" b="24652"/>
          <a:stretch>
            <a:fillRect/>
          </a:stretch>
        </p:blipFill>
        <p:spPr>
          <a:xfrm>
            <a:off x="999460" y="2748516"/>
            <a:ext cx="11192540" cy="205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004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DE28BC-2EFD-DB92-4374-0F4635222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881" y="521617"/>
            <a:ext cx="9058128" cy="1204909"/>
          </a:xfrm>
        </p:spPr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Шаг 3. Выполнение индивидуального задания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F85C1B-1DBC-24AB-71D5-F54BFC381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10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438689-B46E-5AE8-6877-7A47D44575D4}"/>
              </a:ext>
            </a:extLst>
          </p:cNvPr>
          <p:cNvSpPr txBox="1"/>
          <p:nvPr/>
        </p:nvSpPr>
        <p:spPr>
          <a:xfrm>
            <a:off x="1478738" y="1907240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начала я создаю две таблицы: c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ourses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6BB81C-39CF-3346-4784-6500435A56BB}"/>
              </a:ext>
            </a:extLst>
          </p:cNvPr>
          <p:cNvSpPr txBox="1"/>
          <p:nvPr/>
        </p:nvSpPr>
        <p:spPr>
          <a:xfrm>
            <a:off x="1478738" y="2488064"/>
            <a:ext cx="982354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courses (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курсы):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course_id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Уникальный идентификатор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PK).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INT,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будет увеличиваться автоматически.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Название курса. Тип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VARCHAR(255).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Предметная область или категория курса. Тип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VARCHAR(255).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Стоимость курса. Тип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DECIMAL(10, 2)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идеально для денежных сумм (10 знаков всего, 2 из них после запятой).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(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студенты):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Уникальный идентификатор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PK).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автоинкремент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Имя студента. Тип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VARCHAR(255).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Электронная почта студента. Тип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VARCHAR(255).</a:t>
            </a:r>
          </a:p>
        </p:txBody>
      </p:sp>
    </p:spTree>
    <p:extLst>
      <p:ext uri="{BB962C8B-B14F-4D97-AF65-F5344CB8AC3E}">
        <p14:creationId xmlns:p14="http://schemas.microsoft.com/office/powerpoint/2010/main" val="171273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C26BEF1-C57D-A0CA-76D6-C3C2966C5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11</a:t>
            </a:fld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E575960-6544-5C02-272A-A957775769BB}"/>
              </a:ext>
            </a:extLst>
          </p:cNvPr>
          <p:cNvSpPr txBox="1">
            <a:spLocks/>
          </p:cNvSpPr>
          <p:nvPr/>
        </p:nvSpPr>
        <p:spPr>
          <a:xfrm>
            <a:off x="1403498" y="489098"/>
            <a:ext cx="9075850" cy="120490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</a:lstStyle>
          <a:p>
            <a:r>
              <a:rPr lang="ru-RU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Шаг 3. Выполнение индивидуального задания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1083A0-EFA8-DC63-9E0A-11324A5FC958}"/>
              </a:ext>
            </a:extLst>
          </p:cNvPr>
          <p:cNvSpPr txBox="1"/>
          <p:nvPr/>
        </p:nvSpPr>
        <p:spPr>
          <a:xfrm>
            <a:off x="1478738" y="1798031"/>
            <a:ext cx="91431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Перейдя во вкладку "SQL" моей базы данных я выполнила следующий код: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EEA6261-FE18-EEC9-B508-BF1DBEB7EE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0" t="12093" r="42703" b="41395"/>
          <a:stretch>
            <a:fillRect/>
          </a:stretch>
        </p:blipFill>
        <p:spPr>
          <a:xfrm>
            <a:off x="1478738" y="2346157"/>
            <a:ext cx="8824211" cy="407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181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7C633-2B4F-CFA5-DE43-739C9DAF2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2F87CC-DABC-2FBD-2255-D860D87FA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D437A8-D5C6-7B44-BC16-48B1FA963B23}" type="slidenum">
              <a:rPr kumimoji="0" lang="ru-RU" sz="1600" b="1" i="0" u="none" strike="noStrike" kern="1200" cap="none" spc="0" normalizeH="0" baseline="0" noProof="0" smtClean="0">
                <a:ln>
                  <a:noFill/>
                </a:ln>
                <a:solidFill>
                  <a:srgbClr val="9E9F9E"/>
                </a:solidFill>
                <a:effectLst/>
                <a:uLnTx/>
                <a:uFillTx/>
                <a:latin typeface="Museo Sans Cyrl 700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sz="1600" b="1" i="0" u="none" strike="noStrike" kern="1200" cap="none" spc="0" normalizeH="0" baseline="0" noProof="0">
              <a:ln>
                <a:noFill/>
              </a:ln>
              <a:solidFill>
                <a:srgbClr val="9E9F9E"/>
              </a:solidFill>
              <a:effectLst/>
              <a:uLnTx/>
              <a:uFillTx/>
              <a:latin typeface="Museo Sans Cyrl 700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1527BDC-2263-66F8-1CC1-2B0F9F13F1E5}"/>
              </a:ext>
            </a:extLst>
          </p:cNvPr>
          <p:cNvSpPr txBox="1">
            <a:spLocks/>
          </p:cNvSpPr>
          <p:nvPr/>
        </p:nvSpPr>
        <p:spPr>
          <a:xfrm>
            <a:off x="1403498" y="489098"/>
            <a:ext cx="9075850" cy="120490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Шаг 3. Выполнение индивидуального задания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D52524-9832-7842-4C8E-93359B1DB9C3}"/>
              </a:ext>
            </a:extLst>
          </p:cNvPr>
          <p:cNvSpPr txBox="1"/>
          <p:nvPr/>
        </p:nvSpPr>
        <p:spPr>
          <a:xfrm>
            <a:off x="1478738" y="1737185"/>
            <a:ext cx="91431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И получила такой результат: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BB1B0E6-9D0B-3FDD-E089-B85C9B3FE4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400"/>
          <a:stretch>
            <a:fillRect/>
          </a:stretch>
        </p:blipFill>
        <p:spPr>
          <a:xfrm>
            <a:off x="1019276" y="2180474"/>
            <a:ext cx="9143114" cy="41884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3A3074-CF93-6AA9-782B-978F9486AB81}"/>
              </a:ext>
            </a:extLst>
          </p:cNvPr>
          <p:cNvSpPr txBox="1"/>
          <p:nvPr/>
        </p:nvSpPr>
        <p:spPr>
          <a:xfrm>
            <a:off x="10230413" y="2584713"/>
            <a:ext cx="188462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Теперь наполним таблицы осмысленными данными. Нужно добавить по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120-150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записей в каждую. Важно, чтобы присутствовал предмет «Аналитика»</a:t>
            </a:r>
          </a:p>
        </p:txBody>
      </p:sp>
    </p:spTree>
    <p:extLst>
      <p:ext uri="{BB962C8B-B14F-4D97-AF65-F5344CB8AC3E}">
        <p14:creationId xmlns:p14="http://schemas.microsoft.com/office/powerpoint/2010/main" val="392070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A56AA3-5002-22E7-22B4-A1B27D383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256" y="410300"/>
            <a:ext cx="9245971" cy="1321868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 4. Генерация синтетических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0795088-FFFD-36AC-8381-5096B7B51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13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01ABB00-8B0C-A332-9FC7-2EDB1E8C75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13" b="1653"/>
          <a:stretch>
            <a:fillRect/>
          </a:stretch>
        </p:blipFill>
        <p:spPr>
          <a:xfrm>
            <a:off x="1836432" y="2094614"/>
            <a:ext cx="8519135" cy="448693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DCC48C-5804-25ED-D20A-537C6FA4650E}"/>
              </a:ext>
            </a:extLst>
          </p:cNvPr>
          <p:cNvSpPr txBox="1"/>
          <p:nvPr/>
        </p:nvSpPr>
        <p:spPr>
          <a:xfrm>
            <a:off x="1148315" y="1534519"/>
            <a:ext cx="10478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https://colab.research.google.com/drive/1dYHIbzejDZJNpRUxgg7EnLUND0CDE2Wv#scrollTo=WJ3R52Epsfm9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5453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B1ACE26-7984-C98B-01A9-30235F4BC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14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8570D3-6452-1A8A-1003-217F402D20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57" t="12558" r="25610" b="18605"/>
          <a:stretch>
            <a:fillRect/>
          </a:stretch>
        </p:blipFill>
        <p:spPr>
          <a:xfrm>
            <a:off x="2501106" y="1456105"/>
            <a:ext cx="7189787" cy="4822154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01F70182-376F-80E5-B62A-0A2F8127D564}"/>
              </a:ext>
            </a:extLst>
          </p:cNvPr>
          <p:cNvSpPr txBox="1">
            <a:spLocks/>
          </p:cNvSpPr>
          <p:nvPr/>
        </p:nvSpPr>
        <p:spPr>
          <a:xfrm>
            <a:off x="1063256" y="654849"/>
            <a:ext cx="9245971" cy="97193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</a:lstStyle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 4. Генерация синтетических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3157469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B8AC7-5C35-76C1-C159-5CF29FC17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BD4EE57-680C-57BD-9FE1-ACA1E72F8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D437A8-D5C6-7B44-BC16-48B1FA963B23}" type="slidenum">
              <a:rPr kumimoji="0" lang="ru-RU" sz="1600" b="1" i="0" u="none" strike="noStrike" kern="1200" cap="none" spc="0" normalizeH="0" baseline="0" noProof="0" smtClean="0">
                <a:ln>
                  <a:noFill/>
                </a:ln>
                <a:solidFill>
                  <a:srgbClr val="9E9F9E"/>
                </a:solidFill>
                <a:effectLst/>
                <a:uLnTx/>
                <a:uFillTx/>
                <a:latin typeface="Museo Sans Cyrl 700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ru-RU" sz="1600" b="1" i="0" u="none" strike="noStrike" kern="1200" cap="none" spc="0" normalizeH="0" baseline="0" noProof="0">
              <a:ln>
                <a:noFill/>
              </a:ln>
              <a:solidFill>
                <a:srgbClr val="9E9F9E"/>
              </a:solidFill>
              <a:effectLst/>
              <a:uLnTx/>
              <a:uFillTx/>
              <a:latin typeface="Museo Sans Cyrl 700" charset="0"/>
            </a:endParaRP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055CE644-FA7B-0F9E-EE78-00FE21E9176E}"/>
              </a:ext>
            </a:extLst>
          </p:cNvPr>
          <p:cNvSpPr txBox="1">
            <a:spLocks/>
          </p:cNvSpPr>
          <p:nvPr/>
        </p:nvSpPr>
        <p:spPr>
          <a:xfrm>
            <a:off x="1063256" y="654849"/>
            <a:ext cx="9245971" cy="97193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C3D3B"/>
                </a:solidFill>
                <a:latin typeface="Museo Sans Cyrl 500" charset="0"/>
                <a:ea typeface="Museo Sans Cyrl 500" charset="0"/>
                <a:cs typeface="Museo Sans Cyrl 500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0" i="0" u="none" strike="noStrike" kern="1200" cap="none" spc="0" normalizeH="0" baseline="0" noProof="0" dirty="0">
                <a:ln>
                  <a:noFill/>
                </a:ln>
                <a:solidFill>
                  <a:srgbClr val="3C3D3B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Шаг 4. Генерация синтетических данных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AA43D9-530A-2DB2-99FC-F5970F161D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46" t="24609" r="14622"/>
          <a:stretch>
            <a:fillRect/>
          </a:stretch>
        </p:blipFill>
        <p:spPr>
          <a:xfrm>
            <a:off x="176090" y="2062715"/>
            <a:ext cx="6847367" cy="414043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3EC891A-FF82-8E0C-4AFD-1146C62A75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47" t="34867" r="36773"/>
          <a:stretch>
            <a:fillRect/>
          </a:stretch>
        </p:blipFill>
        <p:spPr>
          <a:xfrm>
            <a:off x="7023457" y="2299150"/>
            <a:ext cx="5091393" cy="390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35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09BD6C-8A58-D607-4C87-2AD43B5A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8858" y="435935"/>
            <a:ext cx="8426452" cy="1481355"/>
          </a:xfrm>
        </p:spPr>
        <p:txBody>
          <a:bodyPr>
            <a:norm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Шаг 5. Выполнение индивидуального задания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BE0C4A-C132-908C-917B-09B4F726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16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886BB8-FBFF-F603-F7D7-DA8E61460874}"/>
              </a:ext>
            </a:extLst>
          </p:cNvPr>
          <p:cNvSpPr txBox="1"/>
          <p:nvPr/>
        </p:nvSpPr>
        <p:spPr>
          <a:xfrm>
            <a:off x="1648858" y="1798306"/>
            <a:ext cx="86362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Задача.</a:t>
            </a:r>
            <a:r>
              <a:rPr lang="en-US" dirty="0"/>
              <a:t> </a:t>
            </a:r>
            <a:r>
              <a:rPr lang="ru-RU" dirty="0"/>
              <a:t>Вывести все курсы по предмету "Аналитика".</a:t>
            </a:r>
            <a:r>
              <a:rPr lang="en-US" dirty="0"/>
              <a:t> </a:t>
            </a:r>
            <a:r>
              <a:rPr lang="ru-RU" dirty="0"/>
              <a:t>Для решения этой задачи мне нужно выбрать все поля (*) из таблицы c</a:t>
            </a:r>
            <a:r>
              <a:rPr lang="en-US" dirty="0" err="1"/>
              <a:t>ourses</a:t>
            </a:r>
            <a:r>
              <a:rPr lang="ru-RU" dirty="0"/>
              <a:t>, где присутствует предмет «Аналитика». Открыв вкладку "SQL" и выполнив следующий запрос: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368074-0755-D568-71E7-DECC43AA57A5}"/>
              </a:ext>
            </a:extLst>
          </p:cNvPr>
          <p:cNvSpPr txBox="1"/>
          <p:nvPr/>
        </p:nvSpPr>
        <p:spPr>
          <a:xfrm>
            <a:off x="1648858" y="2727229"/>
            <a:ext cx="753050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-Выбор курсов по предмету «Аналитика» </a:t>
            </a:r>
          </a:p>
          <a:p>
            <a:r>
              <a:rPr lang="ru-RU" dirty="0">
                <a:solidFill>
                  <a:srgbClr val="C00000"/>
                </a:solidFill>
              </a:rPr>
              <a:t>SELECT* </a:t>
            </a:r>
          </a:p>
          <a:p>
            <a:r>
              <a:rPr lang="ru-RU" dirty="0">
                <a:solidFill>
                  <a:srgbClr val="C00000"/>
                </a:solidFill>
              </a:rPr>
              <a:t>FROM `c</a:t>
            </a:r>
            <a:r>
              <a:rPr lang="en-US" dirty="0" err="1">
                <a:solidFill>
                  <a:srgbClr val="C00000"/>
                </a:solidFill>
              </a:rPr>
              <a:t>ourse</a:t>
            </a:r>
            <a:r>
              <a:rPr lang="ru-RU" dirty="0">
                <a:solidFill>
                  <a:srgbClr val="C00000"/>
                </a:solidFill>
              </a:rPr>
              <a:t>s` </a:t>
            </a:r>
          </a:p>
          <a:p>
            <a:r>
              <a:rPr lang="ru-RU" dirty="0">
                <a:solidFill>
                  <a:srgbClr val="C00000"/>
                </a:solidFill>
              </a:rPr>
              <a:t>WHERE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ru-RU" dirty="0">
                <a:solidFill>
                  <a:srgbClr val="C00000"/>
                </a:solidFill>
              </a:rPr>
              <a:t>`</a:t>
            </a:r>
            <a:r>
              <a:rPr lang="en-US" dirty="0">
                <a:solidFill>
                  <a:srgbClr val="C00000"/>
                </a:solidFill>
              </a:rPr>
              <a:t>subject</a:t>
            </a:r>
            <a:r>
              <a:rPr lang="ru-RU" dirty="0">
                <a:solidFill>
                  <a:srgbClr val="C00000"/>
                </a:solidFill>
              </a:rPr>
              <a:t>` </a:t>
            </a:r>
            <a:r>
              <a:rPr lang="en-US" dirty="0">
                <a:solidFill>
                  <a:srgbClr val="C00000"/>
                </a:solidFill>
              </a:rPr>
              <a:t>= </a:t>
            </a:r>
            <a:r>
              <a:rPr lang="ru-RU" dirty="0">
                <a:solidFill>
                  <a:srgbClr val="C00000"/>
                </a:solidFill>
              </a:rPr>
              <a:t>«Аналитика»; </a:t>
            </a:r>
          </a:p>
          <a:p>
            <a:r>
              <a:rPr lang="ru-RU" dirty="0"/>
              <a:t>Результат выполнения запроса: 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A621005-641F-9989-DB57-E35B50FC96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30" t="22916" r="20814" b="6357"/>
          <a:stretch>
            <a:fillRect/>
          </a:stretch>
        </p:blipFill>
        <p:spPr>
          <a:xfrm>
            <a:off x="4912241" y="3137519"/>
            <a:ext cx="6443331" cy="359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585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5063043-2785-2E64-0083-177613EB5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17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162E1E-1131-E671-FCD6-7C0F4B9D1A0F}"/>
              </a:ext>
            </a:extLst>
          </p:cNvPr>
          <p:cNvSpPr txBox="1"/>
          <p:nvPr/>
        </p:nvSpPr>
        <p:spPr>
          <a:xfrm>
            <a:off x="1484128" y="721328"/>
            <a:ext cx="60977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8B2388-F0BD-F1EF-7AAE-AF268AA41873}"/>
              </a:ext>
            </a:extLst>
          </p:cNvPr>
          <p:cNvSpPr txBox="1"/>
          <p:nvPr/>
        </p:nvSpPr>
        <p:spPr>
          <a:xfrm>
            <a:off x="1484128" y="2274838"/>
            <a:ext cx="827213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выполнения данной лабораторной работы получены практические навыки работы с СУБД MySQL через веб-интерфейс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phpMyAdmin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Была создана базы данных (CREATE DATABASE) и таблицы (CREATE TABLE) с определением типов данных и первичных ключей. Также освоено наполнение таблиц данными с помощью команды INSERT и выполнение простых запросов на выборку данных с использованием SELECT и фильтрации WHERE. </a:t>
            </a:r>
          </a:p>
        </p:txBody>
      </p:sp>
    </p:spTree>
    <p:extLst>
      <p:ext uri="{BB962C8B-B14F-4D97-AF65-F5344CB8AC3E}">
        <p14:creationId xmlns:p14="http://schemas.microsoft.com/office/powerpoint/2010/main" val="2341434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D2D186-79A2-B4BA-761C-7CDAB1FF3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775" y="750408"/>
            <a:ext cx="8426452" cy="720315"/>
          </a:xfrm>
        </p:spPr>
        <p:txBody>
          <a:bodyPr/>
          <a:lstStyle/>
          <a:p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E4689D-3AEA-5C3F-8201-94B7091F3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437A8-D5C6-7B44-BC16-48B1FA963B23}" type="slidenum">
              <a:rPr lang="ru-RU" smtClean="0"/>
              <a:t>18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CFFC01-7CC5-34FE-BD63-83141BDAA4E3}"/>
              </a:ext>
            </a:extLst>
          </p:cNvPr>
          <p:cNvSpPr txBox="1"/>
          <p:nvPr/>
        </p:nvSpPr>
        <p:spPr>
          <a:xfrm>
            <a:off x="1630401" y="2551561"/>
            <a:ext cx="939556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Основы технологий баз данных: учебное пособие / А.А. Агафонов, А.М. Белов. – Самара: Издательство Самарского университета, 2023. – 304 с.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Нестеров, С. А. Базы данных : учебник и практикум для вузов / С. А. Нестеров. — Москва : Издательство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Юрайт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2022. — 230 с. 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Осипов Д. Л. Технологии проектирования баз данных. – М.: ДМК Пресс, 2019. – 498 с</a:t>
            </a:r>
          </a:p>
        </p:txBody>
      </p:sp>
    </p:spTree>
    <p:extLst>
      <p:ext uri="{BB962C8B-B14F-4D97-AF65-F5344CB8AC3E}">
        <p14:creationId xmlns:p14="http://schemas.microsoft.com/office/powerpoint/2010/main" val="6418672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Университет твоих возможностей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idx="1"/>
          </p:nvPr>
        </p:nvSpPr>
        <p:spPr>
          <a:xfrm>
            <a:off x="1882773" y="5938874"/>
            <a:ext cx="9685339" cy="1341017"/>
          </a:xfrm>
        </p:spPr>
        <p:txBody>
          <a:bodyPr/>
          <a:lstStyle/>
          <a:p>
            <a:r>
              <a:rPr lang="de-DE" dirty="0"/>
              <a:t>Copyright ©</a:t>
            </a:r>
            <a:r>
              <a:rPr lang="ru-RU" dirty="0"/>
              <a:t>ГАОУ ВО МГПУ 2021</a:t>
            </a:r>
          </a:p>
        </p:txBody>
      </p:sp>
    </p:spTree>
    <p:extLst>
      <p:ext uri="{BB962C8B-B14F-4D97-AF65-F5344CB8AC3E}">
        <p14:creationId xmlns:p14="http://schemas.microsoft.com/office/powerpoint/2010/main" val="2007585348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УКЭСИ.pptx" id="{9D7C701E-F3D7-7B4E-A0A9-79094BABD70A}" vid="{9CAC9407-DA55-E741-87DC-DEF11B132EC0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4255</TotalTime>
  <Words>775</Words>
  <Application>Microsoft Office PowerPoint</Application>
  <PresentationFormat>Широкоэкранный</PresentationFormat>
  <Paragraphs>86</Paragraphs>
  <Slides>19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Museo Sans Cyrl 700</vt:lpstr>
      <vt:lpstr>Times New Roman</vt:lpstr>
      <vt:lpstr>Arial</vt:lpstr>
      <vt:lpstr>Museo Sans Cyrl 500</vt:lpstr>
      <vt:lpstr>Calibri</vt:lpstr>
      <vt:lpstr>Специальное оформление</vt:lpstr>
      <vt:lpstr>Базы данных </vt:lpstr>
      <vt:lpstr>Цель работы:</vt:lpstr>
      <vt:lpstr>Краткое описание предметной области</vt:lpstr>
      <vt:lpstr>Шаг 1. Подключение к серверу СУБД через phpMyAdmin</vt:lpstr>
      <vt:lpstr>Шаг 1. Подключение к серверу СУБД через MySQL Workbench</vt:lpstr>
      <vt:lpstr>Шаг 1. Подключение к серверу СУБД через MySQL Workbench</vt:lpstr>
      <vt:lpstr>Интерфейс тонкого клиента и веб-клиента </vt:lpstr>
      <vt:lpstr>Шаг 2. Создание базы данных</vt:lpstr>
      <vt:lpstr>Шаг 3. Выполнение индивидуального задания </vt:lpstr>
      <vt:lpstr>Шаг 3. Выполнение индивидуального задания</vt:lpstr>
      <vt:lpstr>Презентация PowerPoint</vt:lpstr>
      <vt:lpstr>Презентация PowerPoint</vt:lpstr>
      <vt:lpstr>Шаг 4. Генерация синтетических данных</vt:lpstr>
      <vt:lpstr>Презентация PowerPoint</vt:lpstr>
      <vt:lpstr>Презентация PowerPoint</vt:lpstr>
      <vt:lpstr>Шаг 5. Выполнение индивидуального задания</vt:lpstr>
      <vt:lpstr>Презентация PowerPoint</vt:lpstr>
      <vt:lpstr>ИСТОЧНИКИ</vt:lpstr>
      <vt:lpstr>Университет твоих возможностей</vt:lpstr>
    </vt:vector>
  </TitlesOfParts>
  <Manager/>
  <Company>Московский городской университет МГПУ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презентации</dc:title>
  <dc:subject/>
  <dc:creator>Маргарита Еськова</dc:creator>
  <cp:keywords/>
  <dc:description/>
  <cp:lastModifiedBy>Маргарита Еськова</cp:lastModifiedBy>
  <cp:revision>238</cp:revision>
  <cp:lastPrinted>2017-05-20T15:29:27Z</cp:lastPrinted>
  <dcterms:created xsi:type="dcterms:W3CDTF">2016-03-02T10:13:19Z</dcterms:created>
  <dcterms:modified xsi:type="dcterms:W3CDTF">2025-09-30T18:20:12Z</dcterms:modified>
  <cp:category/>
</cp:coreProperties>
</file>